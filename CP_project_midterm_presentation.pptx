
<file path=[Content_Types].xml><?xml version="1.0" encoding="utf-8"?>
<Types xmlns="http://schemas.openxmlformats.org/package/2006/content-types">
  <Default Extension="jpg" ContentType="image/jpeg"/>
  <Default Extension="wmf" ContentType="image/x-wmf"/>
  <Default Extension="png" ContentType="image/png"/>
  <Default Extension="xml" ContentType="application/xml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notesSlides/notesSlide10.xml" ContentType="application/vnd.openxmlformats-officedocument.presentationml.notes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1.xml" ContentType="application/vnd.openxmlformats-officedocument.presentationml.slideLayout+xml"/>
  <Override PartName="/ppt/slides/slide10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8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.xml" ContentType="application/vnd.openxmlformats-officedocument.presentationml.notesSlide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9.xml" ContentType="application/vnd.openxmlformats-officedocument.presentationml.notesSlide+xml"/>
  <Override PartName="/ppt/theme/theme1.xml" ContentType="application/vnd.openxmlformats-officedocument.theme+xml"/>
  <Override PartName="/docProps/app.xml" ContentType="application/vnd.openxmlformats-officedocument.extended-properties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viewProps.xml" ContentType="application/vnd.openxmlformats-officedocument.presentationml.viewPro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8.xml" ContentType="application/vnd.openxmlformats-officedocument.presentationml.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6.xml" ContentType="application/vnd.openxmlformats-officedocument.presentationml.slideLayout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fr-FR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4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5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4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F1DD67-B7C7-7A12-1971-FEA377F608EE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21344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69167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296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9024D1-8D77-8467-61A5-98346701E855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185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4960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556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5DE2A0-E408-00F9-EF00-EB687678E380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442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7746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087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5AAC82-58BB-DA95-5D40-1D8CE4859E05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4369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18718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384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E5749D-D746-3467-4F72-B8DAD41FA0B9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439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1983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7325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9701E9-0B8F-FE32-DAE1-697CEA162A28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21336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8006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901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581F3E-76B3-7453-A2E5-4E1E014751AB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9882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440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330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F3B4D-4C5E-ECA8-6B35-B15869A4108B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9118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14116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5377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6BC408-41BF-BDDA-C064-32D410CB2907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r-FR"/>
              <a:t>30.10.2013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23999" y="1122363"/>
            <a:ext cx="9144000" cy="1311803"/>
          </a:xfrm>
        </p:spPr>
        <p:txBody>
          <a:bodyPr/>
          <a:lstStyle/>
          <a:p>
            <a:pPr>
              <a:defRPr/>
            </a:pPr>
            <a:r>
              <a:rPr lang="fr-FR"/>
              <a:t>Computational Statistics</a:t>
            </a:r>
            <a:endParaRPr lang="fr-F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2434166"/>
            <a:ext cx="9144000" cy="2823633"/>
          </a:xfrm>
        </p:spPr>
        <p:txBody>
          <a:bodyPr/>
          <a:lstStyle/>
          <a:p>
            <a:pPr>
              <a:defRPr/>
            </a:pPr>
            <a:r>
              <a:rPr sz="3600" b="1" i="0" u="none">
                <a:solidFill>
                  <a:srgbClr val="1F2328"/>
                </a:solidFill>
                <a:latin typeface="Arial"/>
                <a:ea typeface="Arial"/>
                <a:cs typeface="Arial"/>
              </a:rPr>
              <a:t>Midterm presentation</a:t>
            </a:r>
            <a:r>
              <a:rPr sz="3600"/>
              <a:t> </a:t>
            </a:r>
            <a:endParaRPr sz="3600"/>
          </a:p>
          <a:p>
            <a:pPr>
              <a:defRPr/>
            </a:pPr>
            <a:r>
              <a:rPr sz="2000"/>
              <a:t>From</a:t>
            </a:r>
            <a:endParaRPr sz="3600"/>
          </a:p>
          <a:p>
            <a:pPr>
              <a:defRPr/>
            </a:pPr>
            <a:r>
              <a:rPr sz="3600" b="1" i="0" u="none">
                <a:solidFill>
                  <a:srgbClr val="1D2125"/>
                </a:solidFill>
                <a:latin typeface="Arial"/>
                <a:ea typeface="Arial"/>
                <a:cs typeface="Arial"/>
              </a:rPr>
              <a:t>Group 8</a:t>
            </a:r>
            <a:endParaRPr sz="3600"/>
          </a:p>
          <a:p>
            <a:pPr>
              <a:defRPr/>
            </a:pPr>
            <a:r>
              <a:rPr sz="2400" b="0" i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Loris Junod, Kyrylo Kublytskyi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16332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fr-FR" sz="36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Exploratory Analysis and Classical Statistical Inference</a:t>
            </a:r>
            <a:endParaRPr sz="3600"/>
          </a:p>
        </p:txBody>
      </p:sp>
      <p:sp>
        <p:nvSpPr>
          <p:cNvPr id="232415919" name="Espace réservé du contenu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5736168" cy="435133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0000" lnSpcReduction="8000"/>
          </a:bodyPr>
          <a:lstStyle/>
          <a:p>
            <a:pPr>
              <a:defRPr/>
            </a:pPr>
            <a:r>
              <a:rPr/>
              <a:t>Starting point : knowing the data</a:t>
            </a:r>
            <a:endParaRPr/>
          </a:p>
          <a:p>
            <a:pPr lvl="1">
              <a:defRPr/>
            </a:pPr>
            <a:r>
              <a:rPr/>
              <a:t>What kind of Data</a:t>
            </a:r>
            <a:endParaRPr/>
          </a:p>
          <a:p>
            <a:pPr lvl="2">
              <a:defRPr/>
            </a:pPr>
            <a:r>
              <a:rPr/>
              <a:t>Categorical Data </a:t>
            </a:r>
            <a:endParaRPr/>
          </a:p>
          <a:p>
            <a:pPr lvl="3">
              <a:defRPr/>
            </a:pPr>
            <a:r>
              <a:rPr/>
              <a:t>Ordinal variables (Bad – Very Good, ie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GarageQual</a:t>
            </a:r>
            <a:r>
              <a:rPr/>
              <a:t>)</a:t>
            </a:r>
            <a:endParaRPr/>
          </a:p>
          <a:p>
            <a:pPr lvl="3">
              <a:defRPr/>
            </a:pPr>
            <a:r>
              <a:rPr/>
              <a:t>Descriptive variables (ie.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LotShape</a:t>
            </a:r>
            <a:r>
              <a:rPr/>
              <a:t>,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Neighborhood</a:t>
            </a:r>
            <a:r>
              <a:rPr/>
              <a:t> location)</a:t>
            </a:r>
            <a:endParaRPr/>
          </a:p>
          <a:p>
            <a:pPr lvl="2">
              <a:defRPr/>
            </a:pPr>
            <a:r>
              <a:rPr/>
              <a:t>Boolean Variables (ie </a:t>
            </a:r>
            <a:r>
              <a:rPr lang="fr-FR" sz="20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CentralAir</a:t>
            </a:r>
            <a:r>
              <a:rPr/>
              <a:t>)</a:t>
            </a:r>
            <a:endParaRPr/>
          </a:p>
          <a:p>
            <a:pPr lvl="2">
              <a:defRPr/>
            </a:pPr>
            <a:r>
              <a:rPr/>
              <a:t>Numerical Variables</a:t>
            </a:r>
            <a:endParaRPr/>
          </a:p>
          <a:p>
            <a:pPr lvl="3">
              <a:defRPr/>
            </a:pPr>
            <a:r>
              <a:rPr/>
              <a:t>Times variables (ie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MoSold</a:t>
            </a:r>
            <a:r>
              <a:rPr/>
              <a:t>,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YrSold</a:t>
            </a:r>
            <a:r>
              <a:rPr/>
              <a:t>)</a:t>
            </a:r>
            <a:endParaRPr/>
          </a:p>
          <a:p>
            <a:pPr lvl="3">
              <a:defRPr/>
            </a:pPr>
            <a:r>
              <a:rPr/>
              <a:t>Size variables (ie. </a:t>
            </a:r>
            <a:r>
              <a:rPr lang="fr-FR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GarageArea</a:t>
            </a:r>
            <a:r>
              <a:rPr/>
              <a:t>)</a:t>
            </a:r>
            <a:endParaRPr/>
          </a:p>
          <a:p>
            <a:pPr lvl="1">
              <a:defRPr/>
            </a:pPr>
            <a:r>
              <a:rPr/>
              <a:t>Missing Data ? </a:t>
            </a:r>
            <a:endParaRPr/>
          </a:p>
          <a:p>
            <a:pPr lvl="2">
              <a:defRPr/>
            </a:pPr>
            <a:r>
              <a:rPr/>
              <a:t>In the Features Variables	</a:t>
            </a:r>
            <a:endParaRPr/>
          </a:p>
          <a:p>
            <a:pPr lvl="2">
              <a:defRPr/>
            </a:pPr>
            <a:r>
              <a:rPr/>
              <a:t>Issue : How to to deal with NA Values in training phase </a:t>
            </a:r>
            <a:endParaRPr/>
          </a:p>
          <a:p>
            <a:pPr lvl="3">
              <a:defRPr/>
            </a:pPr>
            <a:r>
              <a:rPr/>
              <a:t>Two training Set</a:t>
            </a:r>
            <a:endParaRPr/>
          </a:p>
          <a:p>
            <a:pPr lvl="1">
              <a:defRPr/>
            </a:pPr>
            <a:r>
              <a:rPr/>
              <a:t>Type of Data ?</a:t>
            </a:r>
            <a:endParaRPr/>
          </a:p>
          <a:p>
            <a:pPr lvl="2">
              <a:defRPr/>
            </a:pPr>
            <a:endParaRPr/>
          </a:p>
          <a:p>
            <a:pPr marL="1828800" lvl="4" indent="0">
              <a:buFont typeface="Arial"/>
              <a:buNone/>
              <a:defRPr/>
            </a:pPr>
            <a:endParaRPr/>
          </a:p>
          <a:p>
            <a:pPr lvl="4">
              <a:defRPr/>
            </a:pPr>
            <a:endParaRPr/>
          </a:p>
          <a:p>
            <a:pPr>
              <a:defRPr/>
            </a:pPr>
            <a:endParaRPr/>
          </a:p>
        </p:txBody>
      </p:sp>
      <p:pic>
        <p:nvPicPr>
          <p:cNvPr id="1170525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44262" y="1912849"/>
            <a:ext cx="5363073" cy="40010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332166" name="Titr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Exploratory Analysis and Classical Statistical Inference</a:t>
            </a:r>
            <a:endParaRPr sz="4400"/>
          </a:p>
          <a:p>
            <a:pPr>
              <a:defRPr/>
            </a:pPr>
            <a:endParaRPr/>
          </a:p>
        </p:txBody>
      </p:sp>
      <p:pic>
        <p:nvPicPr>
          <p:cNvPr id="10446380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69288" y="2084915"/>
            <a:ext cx="11081067" cy="36212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334607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Classical Statistical Inference</a:t>
            </a:r>
            <a:endParaRPr/>
          </a:p>
        </p:txBody>
      </p:sp>
      <p:sp>
        <p:nvSpPr>
          <p:cNvPr id="927797896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7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On SalePrice</a:t>
            </a:r>
            <a:endParaRPr/>
          </a:p>
        </p:txBody>
      </p:sp>
      <p:sp>
        <p:nvSpPr>
          <p:cNvPr id="1757296886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On LogSalePrice</a:t>
            </a:r>
            <a:endParaRPr/>
          </a:p>
        </p:txBody>
      </p:sp>
      <p:pic>
        <p:nvPicPr>
          <p:cNvPr id="3402107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61043" y="3328515"/>
            <a:ext cx="1800000" cy="1800000"/>
          </a:xfrm>
          <a:prstGeom prst="rect">
            <a:avLst/>
          </a:prstGeom>
        </p:spPr>
      </p:pic>
      <p:pic>
        <p:nvPicPr>
          <p:cNvPr id="23772075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0" y="1422927"/>
            <a:ext cx="12191999" cy="40121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93329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Classical Statistical Inference</a:t>
            </a:r>
            <a:endParaRPr/>
          </a:p>
        </p:txBody>
      </p:sp>
      <p:pic>
        <p:nvPicPr>
          <p:cNvPr id="448240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161043" y="3328515"/>
            <a:ext cx="1800000" cy="1800000"/>
          </a:xfrm>
          <a:prstGeom prst="rect">
            <a:avLst/>
          </a:prstGeom>
        </p:spPr>
      </p:pic>
      <p:pic>
        <p:nvPicPr>
          <p:cNvPr id="61492655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1778348" y="1375499"/>
            <a:ext cx="7957063" cy="53425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57030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Part 2 : ANOVA – significant features</a:t>
            </a:r>
            <a:endParaRPr/>
          </a:p>
        </p:txBody>
      </p:sp>
      <p:sp>
        <p:nvSpPr>
          <p:cNvPr id="183844190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7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One-way ANOVA</a:t>
            </a:r>
            <a:endParaRPr/>
          </a:p>
          <a:p>
            <a:pPr>
              <a:defRPr/>
            </a:pPr>
            <a:endParaRPr lang="fr-FR" sz="2800" b="0" i="0" u="none" strike="noStrike" cap="none" spc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29401849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423408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Significant features</a:t>
            </a:r>
            <a:endParaRPr/>
          </a:p>
          <a:p>
            <a:pPr lvl="1">
              <a:defRPr/>
            </a:pPr>
            <a:r>
              <a:rPr/>
              <a:t>OverallQual</a:t>
            </a:r>
            <a:endParaRPr/>
          </a:p>
          <a:p>
            <a:pPr lvl="1">
              <a:defRPr/>
            </a:pPr>
            <a:r>
              <a:rPr/>
              <a:t>ExterQual</a:t>
            </a:r>
            <a:endParaRPr/>
          </a:p>
          <a:p>
            <a:pPr lvl="1">
              <a:defRPr/>
            </a:pPr>
            <a:r>
              <a:rPr/>
              <a:t>BsmtQual</a:t>
            </a:r>
            <a:endParaRPr/>
          </a:p>
          <a:p>
            <a:pPr lvl="1">
              <a:defRPr/>
            </a:pPr>
            <a:r>
              <a:rPr/>
              <a:t>KitchenQual</a:t>
            </a:r>
            <a:endParaRPr/>
          </a:p>
          <a:p>
            <a:pPr lvl="1">
              <a:defRPr/>
            </a:pPr>
            <a:r>
              <a:rPr/>
              <a:t>FireplaceQu</a:t>
            </a:r>
            <a:endParaRPr/>
          </a:p>
          <a:p>
            <a:pPr lvl="1">
              <a:defRPr/>
            </a:pPr>
            <a:r>
              <a:rPr/>
              <a:t>CentralAir</a:t>
            </a:r>
            <a:endParaRPr/>
          </a:p>
          <a:p>
            <a:pPr lvl="1">
              <a:defRPr/>
            </a:pPr>
            <a:r>
              <a:rPr/>
              <a:t>LotShape</a:t>
            </a:r>
            <a:endParaRPr/>
          </a:p>
        </p:txBody>
      </p:sp>
      <p:pic>
        <p:nvPicPr>
          <p:cNvPr id="19416610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38197" y="2518994"/>
            <a:ext cx="5511493" cy="312273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4919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Part 2 : ANOVA – significant features</a:t>
            </a:r>
            <a:endParaRPr sz="4400"/>
          </a:p>
        </p:txBody>
      </p:sp>
      <p:sp>
        <p:nvSpPr>
          <p:cNvPr id="118347481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7" y="1825623"/>
            <a:ext cx="5181598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543693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3"/>
            <a:ext cx="5181598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83712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Part 2 : ANOVA – significant features</a:t>
            </a:r>
            <a:endParaRPr/>
          </a:p>
        </p:txBody>
      </p:sp>
      <p:sp>
        <p:nvSpPr>
          <p:cNvPr id="1843941217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7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Tukey HSD</a:t>
            </a:r>
            <a:endParaRPr/>
          </a:p>
        </p:txBody>
      </p:sp>
      <p:sp>
        <p:nvSpPr>
          <p:cNvPr id="1262002431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Significant features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960394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Part 3 : 2</a:t>
            </a:r>
            <a:r>
              <a:rPr baseline="30000"/>
              <a:t>k</a:t>
            </a:r>
            <a:r>
              <a:rPr sz="3600"/>
              <a:t> Factorial Design</a:t>
            </a:r>
            <a:endParaRPr/>
          </a:p>
        </p:txBody>
      </p:sp>
      <p:sp>
        <p:nvSpPr>
          <p:cNvPr id="1287313540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7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Selected Features</a:t>
            </a:r>
            <a:endParaRPr/>
          </a:p>
        </p:txBody>
      </p:sp>
      <p:sp>
        <p:nvSpPr>
          <p:cNvPr id="758637506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3"/>
            <a:ext cx="5181598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32126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Part 3 : 2</a:t>
            </a:r>
            <a:r>
              <a:rPr baseline="30000"/>
              <a:t>k</a:t>
            </a:r>
            <a:r>
              <a:rPr sz="3600"/>
              <a:t> Factorial Design</a:t>
            </a:r>
            <a:endParaRPr/>
          </a:p>
        </p:txBody>
      </p:sp>
      <p:sp>
        <p:nvSpPr>
          <p:cNvPr id="1094789569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7" y="1825623"/>
            <a:ext cx="5181598" cy="4351338"/>
          </a:xfrm>
        </p:spPr>
        <p:txBody>
          <a:bodyPr/>
          <a:lstStyle/>
          <a:p>
            <a:pPr>
              <a:defRPr/>
            </a:pPr>
            <a:r>
              <a:rPr/>
              <a:t>Selected Features</a:t>
            </a:r>
            <a:endParaRPr/>
          </a:p>
        </p:txBody>
      </p:sp>
      <p:sp>
        <p:nvSpPr>
          <p:cNvPr id="1498739112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3"/>
            <a:ext cx="5181598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ONLYOFFICE/8.3.2.19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2026-04-19T18:26:06Z</dcterms:modified>
</cp:coreProperties>
</file>